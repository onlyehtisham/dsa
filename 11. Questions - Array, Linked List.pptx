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2" r:id="rId1"/>
  </p:sldMasterIdLst>
  <p:sldIdLst>
    <p:sldId id="256" r:id="rId2"/>
    <p:sldId id="301" r:id="rId3"/>
    <p:sldId id="302" r:id="rId4"/>
    <p:sldId id="303" r:id="rId5"/>
    <p:sldId id="305" r:id="rId6"/>
    <p:sldId id="306" r:id="rId7"/>
    <p:sldId id="307" r:id="rId8"/>
    <p:sldId id="308" r:id="rId9"/>
    <p:sldId id="309" r:id="rId10"/>
    <p:sldId id="31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PK"/>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107C7323-917E-48B5-B5A0-5854C59DD1AA}" type="slidenum">
              <a:rPr lang="en-PK" smtClean="0"/>
              <a:t>‹#›</a:t>
            </a:fld>
            <a:endParaRPr lang="en-PK"/>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639300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nchor="ctr"/>
          <a:lstStyle>
            <a:lvl1pPr>
              <a:buFont typeface="Wingdings" panose="05000000000000000000" pitchFamily="2" charset="2"/>
              <a:buChar char="Ø"/>
              <a:defRPr sz="2400"/>
            </a:lvl1pPr>
            <a:lvl2pPr>
              <a:buFont typeface="Wingdings" panose="05000000000000000000" pitchFamily="2" charset="2"/>
              <a:buChar char="§"/>
              <a:defRPr sz="2000"/>
            </a:lvl2pPr>
            <a:lvl3pPr>
              <a:defRPr sz="16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107C7323-917E-48B5-B5A0-5854C59DD1AA}" type="slidenum">
              <a:rPr lang="en-PK" smtClean="0"/>
              <a:t>‹#›</a:t>
            </a:fld>
            <a:endParaRPr lang="en-PK"/>
          </a:p>
        </p:txBody>
      </p:sp>
      <p:pic>
        <p:nvPicPr>
          <p:cNvPr id="8" name="Picture 7">
            <a:extLst>
              <a:ext uri="{FF2B5EF4-FFF2-40B4-BE49-F238E27FC236}">
                <a16:creationId xmlns:a16="http://schemas.microsoft.com/office/drawing/2014/main" id="{93B4F6A4-8487-2201-54FF-5C0A89A34DA8}"/>
              </a:ext>
            </a:extLst>
          </p:cNvPr>
          <p:cNvPicPr>
            <a:picLocks noChangeAspect="1"/>
          </p:cNvPicPr>
          <p:nvPr userDrawn="1"/>
        </p:nvPicPr>
        <p:blipFill>
          <a:blip r:embed="rId2">
            <a:clrChange>
              <a:clrFrom>
                <a:srgbClr val="FFFFFF"/>
              </a:clrFrom>
              <a:clrTo>
                <a:srgbClr val="FFFFFF">
                  <a:alpha val="0"/>
                </a:srgbClr>
              </a:clrTo>
            </a:clrChange>
            <a:alphaModFix amt="50000"/>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1594809" y="485364"/>
            <a:ext cx="9002381" cy="5887272"/>
          </a:xfrm>
          <a:prstGeom prst="rect">
            <a:avLst/>
          </a:prstGeom>
        </p:spPr>
      </p:pic>
    </p:spTree>
    <p:extLst>
      <p:ext uri="{BB962C8B-B14F-4D97-AF65-F5344CB8AC3E}">
        <p14:creationId xmlns:p14="http://schemas.microsoft.com/office/powerpoint/2010/main" val="369016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PK"/>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107C7323-917E-48B5-B5A0-5854C59DD1AA}" type="slidenum">
              <a:rPr lang="en-PK" smtClean="0"/>
              <a:t>‹#›</a:t>
            </a:fld>
            <a:endParaRPr lang="en-PK"/>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26935855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PK"/>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107C7323-917E-48B5-B5A0-5854C59DD1AA}" type="slidenum">
              <a:rPr lang="en-PK" smtClean="0"/>
              <a:t>‹#›</a:t>
            </a:fld>
            <a:endParaRPr lang="en-PK"/>
          </a:p>
        </p:txBody>
      </p:sp>
    </p:spTree>
    <p:extLst>
      <p:ext uri="{BB962C8B-B14F-4D97-AF65-F5344CB8AC3E}">
        <p14:creationId xmlns:p14="http://schemas.microsoft.com/office/powerpoint/2010/main" val="13572860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1733221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PK"/>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107C7323-917E-48B5-B5A0-5854C59DD1AA}" type="slidenum">
              <a:rPr lang="en-PK" smtClean="0"/>
              <a:t>‹#›</a:t>
            </a:fld>
            <a:endParaRPr lang="en-PK"/>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10331308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dirty="0"/>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2ABAD28B-DD56-4B56-883A-96608C765E28}" type="datetimeFigureOut">
              <a:rPr lang="en-US" smtClean="0"/>
              <a:pPr/>
              <a:t>8/14/2026</a:t>
            </a:fld>
            <a:endParaRPr lang="en-US" dirty="0"/>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25157242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89108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3136921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C8EC8A04-BBAE-45D9-BB90-81C2D47FD6DF}" type="datetimeFigureOut">
              <a:rPr lang="en-PK" smtClean="0"/>
              <a:t>14/08/2026</a:t>
            </a:fld>
            <a:endParaRPr lang="en-PK"/>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74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37444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0158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2335941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107C7323-917E-48B5-B5A0-5854C59DD1AA}" type="slidenum">
              <a:rPr lang="en-PK" smtClean="0"/>
              <a:t>‹#›</a:t>
            </a:fld>
            <a:endParaRPr lang="en-PK"/>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897776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107C7323-917E-48B5-B5A0-5854C59DD1AA}" type="slidenum">
              <a:rPr lang="en-PK" smtClean="0"/>
              <a:t>‹#›</a:t>
            </a:fld>
            <a:endParaRPr lang="en-PK"/>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06328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107C7323-917E-48B5-B5A0-5854C59DD1AA}" type="slidenum">
              <a:rPr lang="en-PK" smtClean="0"/>
              <a:t>‹#›</a:t>
            </a:fld>
            <a:endParaRPr lang="en-PK"/>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69306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2786639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107C7323-917E-48B5-B5A0-5854C59DD1AA}" type="slidenum">
              <a:rPr lang="en-PK" smtClean="0"/>
              <a:t>‹#›</a:t>
            </a:fld>
            <a:endParaRPr lang="en-PK"/>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47569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107C7323-917E-48B5-B5A0-5854C59DD1AA}" type="slidenum">
              <a:rPr lang="en-PK" smtClean="0"/>
              <a:t>‹#›</a:t>
            </a:fld>
            <a:endParaRPr lang="en-PK"/>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487653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107C7323-917E-48B5-B5A0-5854C59DD1AA}" type="slidenum">
              <a:rPr lang="en-PK" smtClean="0"/>
              <a:t>‹#›</a:t>
            </a:fld>
            <a:endParaRPr lang="en-PK"/>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25128213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107C7323-917E-48B5-B5A0-5854C59DD1AA}" type="slidenum">
              <a:rPr lang="en-PK" smtClean="0"/>
              <a:t>‹#›</a:t>
            </a:fld>
            <a:endParaRPr lang="en-PK"/>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19334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PK"/>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10114195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PK"/>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333373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PK"/>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31309990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PK"/>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C8EC8A04-BBAE-45D9-BB90-81C2D47FD6DF}" type="datetimeFigureOut">
              <a:rPr lang="en-PK" smtClean="0"/>
              <a:t>14/08/2026</a:t>
            </a:fld>
            <a:endParaRPr lang="en-PK"/>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107C7323-917E-48B5-B5A0-5854C59DD1AA}" type="slidenum">
              <a:rPr lang="en-PK" smtClean="0"/>
              <a:t>‹#›</a:t>
            </a:fld>
            <a:endParaRPr lang="en-PK"/>
          </a:p>
        </p:txBody>
      </p:sp>
    </p:spTree>
    <p:extLst>
      <p:ext uri="{BB962C8B-B14F-4D97-AF65-F5344CB8AC3E}">
        <p14:creationId xmlns:p14="http://schemas.microsoft.com/office/powerpoint/2010/main" val="19354175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107C7323-917E-48B5-B5A0-5854C59DD1AA}" type="slidenum">
              <a:rPr lang="en-PK" smtClean="0"/>
              <a:t>‹#›</a:t>
            </a:fld>
            <a:endParaRPr lang="en-PK"/>
          </a:p>
        </p:txBody>
      </p:sp>
    </p:spTree>
    <p:extLst>
      <p:ext uri="{BB962C8B-B14F-4D97-AF65-F5344CB8AC3E}">
        <p14:creationId xmlns:p14="http://schemas.microsoft.com/office/powerpoint/2010/main" val="406536226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PK"/>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107C7323-917E-48B5-B5A0-5854C59DD1AA}" type="slidenum">
              <a:rPr lang="en-PK" smtClean="0"/>
              <a:t>‹#›</a:t>
            </a:fld>
            <a:endParaRPr lang="en-PK"/>
          </a:p>
        </p:txBody>
      </p:sp>
    </p:spTree>
    <p:extLst>
      <p:ext uri="{BB962C8B-B14F-4D97-AF65-F5344CB8AC3E}">
        <p14:creationId xmlns:p14="http://schemas.microsoft.com/office/powerpoint/2010/main" val="9295182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PK"/>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C8EC8A04-BBAE-45D9-BB90-81C2D47FD6DF}" type="datetimeFigureOut">
              <a:rPr lang="en-PK" smtClean="0"/>
              <a:t>14/08/2026</a:t>
            </a:fld>
            <a:endParaRPr lang="en-PK"/>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107C7323-917E-48B5-B5A0-5854C59DD1AA}" type="slidenum">
              <a:rPr lang="en-PK" smtClean="0"/>
              <a:t>‹#›</a:t>
            </a:fld>
            <a:endParaRPr lang="en-PK"/>
          </a:p>
        </p:txBody>
      </p:sp>
    </p:spTree>
    <p:extLst>
      <p:ext uri="{BB962C8B-B14F-4D97-AF65-F5344CB8AC3E}">
        <p14:creationId xmlns:p14="http://schemas.microsoft.com/office/powerpoint/2010/main" val="2455961277"/>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3D0D1-3CCD-B52E-AD8C-2FD5188AB1A5}"/>
              </a:ext>
            </a:extLst>
          </p:cNvPr>
          <p:cNvSpPr>
            <a:spLocks noGrp="1"/>
          </p:cNvSpPr>
          <p:nvPr>
            <p:ph type="title"/>
          </p:nvPr>
        </p:nvSpPr>
        <p:spPr>
          <a:xfrm>
            <a:off x="699659" y="1981200"/>
            <a:ext cx="6350069" cy="2921253"/>
          </a:xfrm>
        </p:spPr>
        <p:txBody>
          <a:bodyPr>
            <a:normAutofit/>
          </a:bodyPr>
          <a:lstStyle/>
          <a:p>
            <a:r>
              <a:rPr lang="en-US" dirty="0"/>
              <a:t>Doubly</a:t>
            </a:r>
            <a:r>
              <a:rPr lang="en-PK" dirty="0"/>
              <a:t> Linked List</a:t>
            </a:r>
          </a:p>
        </p:txBody>
      </p:sp>
      <p:sp>
        <p:nvSpPr>
          <p:cNvPr id="3" name="Subtitle 2">
            <a:extLst>
              <a:ext uri="{FF2B5EF4-FFF2-40B4-BE49-F238E27FC236}">
                <a16:creationId xmlns:a16="http://schemas.microsoft.com/office/drawing/2014/main" id="{D3FCD25E-5768-94A5-6177-4AEDEFD306E2}"/>
              </a:ext>
            </a:extLst>
          </p:cNvPr>
          <p:cNvSpPr>
            <a:spLocks noGrp="1"/>
          </p:cNvSpPr>
          <p:nvPr>
            <p:ph type="subTitle" idx="1"/>
          </p:nvPr>
        </p:nvSpPr>
        <p:spPr/>
        <p:txBody>
          <a:bodyPr/>
          <a:lstStyle/>
          <a:p>
            <a:r>
              <a:rPr lang="en-US" dirty="0"/>
              <a:t>Lecture 12</a:t>
            </a:r>
            <a:endParaRPr lang="en-PK" dirty="0"/>
          </a:p>
        </p:txBody>
      </p:sp>
    </p:spTree>
    <p:extLst>
      <p:ext uri="{BB962C8B-B14F-4D97-AF65-F5344CB8AC3E}">
        <p14:creationId xmlns:p14="http://schemas.microsoft.com/office/powerpoint/2010/main" val="4062697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D2A7-32BE-957F-BBCA-A2E208C9D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FAD86-C05E-9D07-BE36-74538E5FBC50}"/>
              </a:ext>
            </a:extLst>
          </p:cNvPr>
          <p:cNvSpPr>
            <a:spLocks noGrp="1"/>
          </p:cNvSpPr>
          <p:nvPr>
            <p:ph type="title"/>
          </p:nvPr>
        </p:nvSpPr>
        <p:spPr/>
        <p:txBody>
          <a:bodyPr/>
          <a:lstStyle/>
          <a:p>
            <a:r>
              <a:rPr lang="en-US" dirty="0"/>
              <a:t>Beginner Level Questions</a:t>
            </a:r>
            <a:endParaRPr lang="en-PK" dirty="0"/>
          </a:p>
        </p:txBody>
      </p:sp>
      <p:sp>
        <p:nvSpPr>
          <p:cNvPr id="4" name="Content Placeholder 3">
            <a:extLst>
              <a:ext uri="{FF2B5EF4-FFF2-40B4-BE49-F238E27FC236}">
                <a16:creationId xmlns:a16="http://schemas.microsoft.com/office/drawing/2014/main" id="{3E9C8E28-E13D-62BC-C1E2-1D89870458E3}"/>
              </a:ext>
            </a:extLst>
          </p:cNvPr>
          <p:cNvSpPr>
            <a:spLocks noGrp="1"/>
          </p:cNvSpPr>
          <p:nvPr>
            <p:ph idx="1"/>
          </p:nvPr>
        </p:nvSpPr>
        <p:spPr/>
        <p:txBody>
          <a:bodyPr>
            <a:normAutofit fontScale="92500"/>
          </a:bodyPr>
          <a:lstStyle/>
          <a:p>
            <a:pPr marL="0" indent="0">
              <a:buNone/>
            </a:pPr>
            <a:r>
              <a:rPr lang="en-PK" b="1" dirty="0"/>
              <a:t>Q.</a:t>
            </a:r>
            <a:r>
              <a:rPr lang="en-PK" dirty="0"/>
              <a:t> What is an array? Write two advantages and two limitations of using arrays.</a:t>
            </a:r>
          </a:p>
          <a:p>
            <a:pPr marL="0" indent="0">
              <a:buNone/>
            </a:pPr>
            <a:r>
              <a:rPr lang="en-PK" b="1" dirty="0"/>
              <a:t>Q.</a:t>
            </a:r>
            <a:r>
              <a:rPr lang="en-PK" dirty="0"/>
              <a:t> What is traversal in an array? Write an algorithm to traverse an array.</a:t>
            </a:r>
          </a:p>
          <a:p>
            <a:pPr marL="0" indent="0">
              <a:buNone/>
            </a:pPr>
            <a:r>
              <a:rPr lang="en-PK" b="1" dirty="0"/>
              <a:t>Q.</a:t>
            </a:r>
            <a:r>
              <a:rPr lang="en-PK" dirty="0"/>
              <a:t> What is the difference between insertion and deletion in an array?</a:t>
            </a:r>
          </a:p>
          <a:p>
            <a:pPr marL="0" indent="0">
              <a:buNone/>
            </a:pPr>
            <a:r>
              <a:rPr lang="en-PK" b="1" dirty="0"/>
              <a:t>Q.</a:t>
            </a:r>
            <a:r>
              <a:rPr lang="en-PK" dirty="0"/>
              <a:t> What is a singly linked list? Explain the structure of a node with a diagram.</a:t>
            </a:r>
          </a:p>
          <a:p>
            <a:pPr marL="0" indent="0">
              <a:buNone/>
            </a:pPr>
            <a:r>
              <a:rPr lang="en-PK" b="1" dirty="0"/>
              <a:t>Q.</a:t>
            </a:r>
            <a:r>
              <a:rPr lang="en-PK" dirty="0"/>
              <a:t> What is the purpose of the next pointer in a singly linked-list node?</a:t>
            </a:r>
          </a:p>
          <a:p>
            <a:pPr marL="0" indent="0">
              <a:buNone/>
            </a:pPr>
            <a:r>
              <a:rPr lang="en-PK" b="1" dirty="0"/>
              <a:t>Q.</a:t>
            </a:r>
            <a:r>
              <a:rPr lang="en-PK" dirty="0"/>
              <a:t> What is the difference between an array and a singly linked list?</a:t>
            </a:r>
          </a:p>
          <a:p>
            <a:pPr marL="0" indent="0">
              <a:buNone/>
            </a:pPr>
            <a:r>
              <a:rPr lang="en-PK" b="1" dirty="0"/>
              <a:t>Q.</a:t>
            </a:r>
            <a:r>
              <a:rPr lang="en-PK" dirty="0"/>
              <a:t> What is a circular linked list? How is it different from a singly linked list?</a:t>
            </a:r>
            <a:endParaRPr lang="en-US" dirty="0"/>
          </a:p>
        </p:txBody>
      </p:sp>
    </p:spTree>
    <p:extLst>
      <p:ext uri="{BB962C8B-B14F-4D97-AF65-F5344CB8AC3E}">
        <p14:creationId xmlns:p14="http://schemas.microsoft.com/office/powerpoint/2010/main" val="39873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AA268-CBAA-3CA8-B7A3-73D82F84A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23C0E-297B-B59E-AD65-F9CCD5581C0C}"/>
              </a:ext>
            </a:extLst>
          </p:cNvPr>
          <p:cNvSpPr>
            <a:spLocks noGrp="1"/>
          </p:cNvSpPr>
          <p:nvPr>
            <p:ph type="title"/>
          </p:nvPr>
        </p:nvSpPr>
        <p:spPr/>
        <p:txBody>
          <a:bodyPr/>
          <a:lstStyle/>
          <a:p>
            <a:r>
              <a:rPr lang="en-US" dirty="0"/>
              <a:t>Beginner Level Questions</a:t>
            </a:r>
            <a:endParaRPr lang="en-PK" dirty="0"/>
          </a:p>
        </p:txBody>
      </p:sp>
      <p:sp>
        <p:nvSpPr>
          <p:cNvPr id="4" name="Content Placeholder 3">
            <a:extLst>
              <a:ext uri="{FF2B5EF4-FFF2-40B4-BE49-F238E27FC236}">
                <a16:creationId xmlns:a16="http://schemas.microsoft.com/office/drawing/2014/main" id="{EFC50169-F546-4E29-82A3-9EFB192ADC3D}"/>
              </a:ext>
            </a:extLst>
          </p:cNvPr>
          <p:cNvSpPr>
            <a:spLocks noGrp="1"/>
          </p:cNvSpPr>
          <p:nvPr>
            <p:ph idx="1"/>
          </p:nvPr>
        </p:nvSpPr>
        <p:spPr/>
        <p:txBody>
          <a:bodyPr>
            <a:normAutofit/>
          </a:bodyPr>
          <a:lstStyle/>
          <a:p>
            <a:pPr marL="0" indent="0">
              <a:buNone/>
            </a:pPr>
            <a:r>
              <a:rPr lang="en-PK" b="1" dirty="0"/>
              <a:t>Q.</a:t>
            </a:r>
            <a:r>
              <a:rPr lang="en-PK" dirty="0"/>
              <a:t> Compare singly, circular, and doubly linked lists with respect to their node structure.</a:t>
            </a:r>
            <a:endParaRPr lang="en-US" dirty="0"/>
          </a:p>
          <a:p>
            <a:pPr marL="0" indent="0">
              <a:buNone/>
            </a:pPr>
            <a:r>
              <a:rPr lang="en-PK" b="1" dirty="0"/>
              <a:t>Q.</a:t>
            </a:r>
            <a:r>
              <a:rPr lang="en-PK" dirty="0"/>
              <a:t> What is the time complexity of the following operations?</a:t>
            </a:r>
            <a:endParaRPr lang="en-US" dirty="0"/>
          </a:p>
          <a:p>
            <a:pPr lvl="1"/>
            <a:r>
              <a:rPr lang="en-US" dirty="0"/>
              <a:t>Array traversal</a:t>
            </a:r>
          </a:p>
          <a:p>
            <a:pPr lvl="1"/>
            <a:r>
              <a:rPr lang="en-US" dirty="0"/>
              <a:t>Array search</a:t>
            </a:r>
          </a:p>
          <a:p>
            <a:pPr lvl="1"/>
            <a:r>
              <a:rPr lang="en-US" dirty="0"/>
              <a:t>Linked-list traversal</a:t>
            </a:r>
          </a:p>
          <a:p>
            <a:pPr lvl="1"/>
            <a:r>
              <a:rPr lang="en-US" dirty="0"/>
              <a:t>Linked-list search</a:t>
            </a:r>
          </a:p>
          <a:p>
            <a:pPr lvl="1"/>
            <a:r>
              <a:rPr lang="en-PK" dirty="0"/>
              <a:t>Insertion at the beginning of a linked list</a:t>
            </a:r>
            <a:endParaRPr lang="en-US" dirty="0"/>
          </a:p>
          <a:p>
            <a:pPr lvl="1"/>
            <a:r>
              <a:rPr lang="en-PK" dirty="0"/>
              <a:t>Deletion from the beginning of a linked list</a:t>
            </a:r>
          </a:p>
        </p:txBody>
      </p:sp>
    </p:spTree>
    <p:extLst>
      <p:ext uri="{BB962C8B-B14F-4D97-AF65-F5344CB8AC3E}">
        <p14:creationId xmlns:p14="http://schemas.microsoft.com/office/powerpoint/2010/main" val="2195208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B559-5941-F78E-0C99-5C2446CF6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F4082-C084-5A7D-3B07-92F25D3AB267}"/>
              </a:ext>
            </a:extLst>
          </p:cNvPr>
          <p:cNvSpPr>
            <a:spLocks noGrp="1"/>
          </p:cNvSpPr>
          <p:nvPr>
            <p:ph type="title"/>
          </p:nvPr>
        </p:nvSpPr>
        <p:spPr/>
        <p:txBody>
          <a:bodyPr/>
          <a:lstStyle/>
          <a:p>
            <a:r>
              <a:rPr lang="en-US" dirty="0"/>
              <a:t>Beginner Level Questions</a:t>
            </a:r>
            <a:endParaRPr lang="en-PK" dirty="0"/>
          </a:p>
        </p:txBody>
      </p:sp>
      <p:sp>
        <p:nvSpPr>
          <p:cNvPr id="4" name="Content Placeholder 3">
            <a:extLst>
              <a:ext uri="{FF2B5EF4-FFF2-40B4-BE49-F238E27FC236}">
                <a16:creationId xmlns:a16="http://schemas.microsoft.com/office/drawing/2014/main" id="{88727BA6-FD93-98D0-1DFA-7548DAAF3B4D}"/>
              </a:ext>
            </a:extLst>
          </p:cNvPr>
          <p:cNvSpPr>
            <a:spLocks noGrp="1"/>
          </p:cNvSpPr>
          <p:nvPr>
            <p:ph idx="1"/>
          </p:nvPr>
        </p:nvSpPr>
        <p:spPr/>
        <p:txBody>
          <a:bodyPr>
            <a:normAutofit/>
          </a:bodyPr>
          <a:lstStyle/>
          <a:p>
            <a:pPr marL="0" indent="0">
              <a:buNone/>
            </a:pPr>
            <a:r>
              <a:rPr lang="en-PK" b="1" dirty="0"/>
              <a:t>Q.</a:t>
            </a:r>
            <a:r>
              <a:rPr lang="en-PK" dirty="0"/>
              <a:t> Write a C++ program to traverse an integer array and display all its elements.</a:t>
            </a:r>
            <a:endParaRPr lang="en-US" dirty="0"/>
          </a:p>
          <a:p>
            <a:pPr marL="0" indent="0">
              <a:buNone/>
            </a:pPr>
            <a:r>
              <a:rPr lang="en-PK" b="1" dirty="0"/>
              <a:t>Q.</a:t>
            </a:r>
            <a:r>
              <a:rPr lang="en-PK" dirty="0"/>
              <a:t> Write a C++ function to traverse a circular linked list.</a:t>
            </a:r>
          </a:p>
          <a:p>
            <a:pPr marL="0" indent="0">
              <a:buNone/>
            </a:pPr>
            <a:r>
              <a:rPr lang="en-PK" b="1" dirty="0"/>
              <a:t>Q.</a:t>
            </a:r>
            <a:r>
              <a:rPr lang="en-PK" dirty="0"/>
              <a:t> Write a C++ function to traverse a doubly linked list in the forward direction.</a:t>
            </a:r>
          </a:p>
          <a:p>
            <a:pPr marL="0" indent="0">
              <a:buNone/>
            </a:pPr>
            <a:r>
              <a:rPr lang="en-PK" b="1" dirty="0"/>
              <a:t>Q.</a:t>
            </a:r>
            <a:r>
              <a:rPr lang="en-PK" dirty="0"/>
              <a:t> Write a C++ program to delete an element from a particular index of an array.</a:t>
            </a:r>
          </a:p>
          <a:p>
            <a:pPr marL="0" indent="0">
              <a:buNone/>
            </a:pPr>
            <a:r>
              <a:rPr lang="en-PK" b="1" dirty="0"/>
              <a:t>Q.</a:t>
            </a:r>
            <a:r>
              <a:rPr lang="en-PK" dirty="0"/>
              <a:t> Write a C++ program to create a singly linked list containing five nodes and display all nodes.</a:t>
            </a:r>
          </a:p>
        </p:txBody>
      </p:sp>
    </p:spTree>
    <p:extLst>
      <p:ext uri="{BB962C8B-B14F-4D97-AF65-F5344CB8AC3E}">
        <p14:creationId xmlns:p14="http://schemas.microsoft.com/office/powerpoint/2010/main" val="198887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8D51-CFCD-82D0-8B54-5B26B0070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8D9C3-460E-7B82-7E77-37AE9A08CDF9}"/>
              </a:ext>
            </a:extLst>
          </p:cNvPr>
          <p:cNvSpPr>
            <a:spLocks noGrp="1"/>
          </p:cNvSpPr>
          <p:nvPr>
            <p:ph type="title"/>
          </p:nvPr>
        </p:nvSpPr>
        <p:spPr/>
        <p:txBody>
          <a:bodyPr/>
          <a:lstStyle/>
          <a:p>
            <a:r>
              <a:rPr lang="en-US" dirty="0"/>
              <a:t>Intermediate Level Questions</a:t>
            </a:r>
            <a:endParaRPr lang="en-PK" dirty="0"/>
          </a:p>
        </p:txBody>
      </p:sp>
      <p:sp>
        <p:nvSpPr>
          <p:cNvPr id="4" name="Content Placeholder 3">
            <a:extLst>
              <a:ext uri="{FF2B5EF4-FFF2-40B4-BE49-F238E27FC236}">
                <a16:creationId xmlns:a16="http://schemas.microsoft.com/office/drawing/2014/main" id="{9C10A9C5-83D1-EEB1-262E-D31357405E15}"/>
              </a:ext>
            </a:extLst>
          </p:cNvPr>
          <p:cNvSpPr>
            <a:spLocks noGrp="1"/>
          </p:cNvSpPr>
          <p:nvPr>
            <p:ph idx="1"/>
          </p:nvPr>
        </p:nvSpPr>
        <p:spPr>
          <a:xfrm>
            <a:off x="699660" y="1511747"/>
            <a:ext cx="10515600" cy="4843333"/>
          </a:xfrm>
        </p:spPr>
        <p:txBody>
          <a:bodyPr>
            <a:normAutofit/>
          </a:bodyPr>
          <a:lstStyle/>
          <a:p>
            <a:pPr marL="0" indent="0">
              <a:buNone/>
            </a:pPr>
            <a:r>
              <a:rPr lang="en-PK" b="1" dirty="0"/>
              <a:t>Q.</a:t>
            </a:r>
            <a:r>
              <a:rPr lang="en-PK" dirty="0"/>
              <a:t> Explain the three cases of insertion in an array:</a:t>
            </a:r>
          </a:p>
          <a:p>
            <a:pPr lvl="1"/>
            <a:r>
              <a:rPr lang="en-PK" dirty="0"/>
              <a:t>Insertion at beginning </a:t>
            </a:r>
          </a:p>
          <a:p>
            <a:pPr lvl="1"/>
            <a:r>
              <a:rPr lang="en-PK" dirty="0"/>
              <a:t>Insertion at end </a:t>
            </a:r>
          </a:p>
          <a:p>
            <a:pPr lvl="1"/>
            <a:r>
              <a:rPr lang="en-PK" dirty="0"/>
              <a:t>Insertion at a particular index </a:t>
            </a:r>
          </a:p>
          <a:p>
            <a:r>
              <a:rPr lang="en-PK" dirty="0"/>
              <a:t>Write the algorithm for each case.</a:t>
            </a:r>
            <a:endParaRPr lang="en-US" dirty="0"/>
          </a:p>
          <a:p>
            <a:pPr marL="0" indent="0">
              <a:buNone/>
            </a:pPr>
            <a:r>
              <a:rPr lang="en-PK" b="1" dirty="0"/>
              <a:t>Q.</a:t>
            </a:r>
            <a:r>
              <a:rPr lang="en-PK" dirty="0"/>
              <a:t> Explain the three cases of deletion in an array:</a:t>
            </a:r>
          </a:p>
          <a:p>
            <a:pPr lvl="1"/>
            <a:r>
              <a:rPr lang="en-PK" dirty="0"/>
              <a:t>Deletion from beginning</a:t>
            </a:r>
          </a:p>
          <a:p>
            <a:pPr lvl="1"/>
            <a:r>
              <a:rPr lang="en-PK" dirty="0"/>
              <a:t>Deletion from end </a:t>
            </a:r>
          </a:p>
          <a:p>
            <a:pPr lvl="1"/>
            <a:r>
              <a:rPr lang="en-PK" dirty="0"/>
              <a:t>Deletion from a particular index </a:t>
            </a:r>
          </a:p>
          <a:p>
            <a:r>
              <a:rPr lang="en-PK" dirty="0"/>
              <a:t>Write the algorithm for each case.</a:t>
            </a:r>
          </a:p>
        </p:txBody>
      </p:sp>
    </p:spTree>
    <p:extLst>
      <p:ext uri="{BB962C8B-B14F-4D97-AF65-F5344CB8AC3E}">
        <p14:creationId xmlns:p14="http://schemas.microsoft.com/office/powerpoint/2010/main" val="1252523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AFB8F-ABA8-4AA4-F9AA-2123E2000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8966B-C9E2-540D-18A7-B4397317A778}"/>
              </a:ext>
            </a:extLst>
          </p:cNvPr>
          <p:cNvSpPr>
            <a:spLocks noGrp="1"/>
          </p:cNvSpPr>
          <p:nvPr>
            <p:ph type="title"/>
          </p:nvPr>
        </p:nvSpPr>
        <p:spPr/>
        <p:txBody>
          <a:bodyPr/>
          <a:lstStyle/>
          <a:p>
            <a:r>
              <a:rPr lang="en-US" dirty="0"/>
              <a:t>Intermediate Level Questions</a:t>
            </a:r>
            <a:endParaRPr lang="en-PK" dirty="0"/>
          </a:p>
        </p:txBody>
      </p:sp>
      <p:sp>
        <p:nvSpPr>
          <p:cNvPr id="4" name="Content Placeholder 3">
            <a:extLst>
              <a:ext uri="{FF2B5EF4-FFF2-40B4-BE49-F238E27FC236}">
                <a16:creationId xmlns:a16="http://schemas.microsoft.com/office/drawing/2014/main" id="{9025F90F-26C9-6BE4-D9B5-F405B0BB70EE}"/>
              </a:ext>
            </a:extLst>
          </p:cNvPr>
          <p:cNvSpPr>
            <a:spLocks noGrp="1"/>
          </p:cNvSpPr>
          <p:nvPr>
            <p:ph idx="1"/>
          </p:nvPr>
        </p:nvSpPr>
        <p:spPr>
          <a:xfrm>
            <a:off x="699660" y="1511747"/>
            <a:ext cx="10515600" cy="4843333"/>
          </a:xfrm>
        </p:spPr>
        <p:txBody>
          <a:bodyPr>
            <a:normAutofit/>
          </a:bodyPr>
          <a:lstStyle/>
          <a:p>
            <a:pPr marL="0" indent="0">
              <a:buNone/>
            </a:pPr>
            <a:r>
              <a:rPr lang="en-PK" b="1" dirty="0"/>
              <a:t>Q.</a:t>
            </a:r>
            <a:r>
              <a:rPr lang="en-PK" dirty="0"/>
              <a:t> Why does insertion at the beginning of an array generally require more operations than insertion at the end?</a:t>
            </a:r>
            <a:endParaRPr lang="en-US" dirty="0"/>
          </a:p>
          <a:p>
            <a:pPr marL="0" indent="0">
              <a:buNone/>
            </a:pPr>
            <a:r>
              <a:rPr lang="en-PK" b="1" dirty="0"/>
              <a:t>Q.</a:t>
            </a:r>
            <a:r>
              <a:rPr lang="en-PK" dirty="0"/>
              <a:t> Write an algorithm to insert a new node at the end of a singly linked list</a:t>
            </a:r>
            <a:endParaRPr lang="en-US" dirty="0"/>
          </a:p>
          <a:p>
            <a:pPr marL="0" indent="0">
              <a:buNone/>
            </a:pPr>
            <a:r>
              <a:rPr lang="en-PK" b="1" dirty="0"/>
              <a:t>Q.</a:t>
            </a:r>
            <a:r>
              <a:rPr lang="en-PK" dirty="0"/>
              <a:t> Explain forward and backward traversal in a doubly linked list</a:t>
            </a:r>
            <a:endParaRPr lang="en-US" dirty="0"/>
          </a:p>
          <a:p>
            <a:pPr marL="0" indent="0">
              <a:buNone/>
            </a:pPr>
            <a:r>
              <a:rPr lang="en-PK" b="1" dirty="0"/>
              <a:t>Q.</a:t>
            </a:r>
            <a:r>
              <a:rPr lang="en-PK" dirty="0"/>
              <a:t> Why can a doubly linked list be traversed in both directions while a singly linked list cannot?</a:t>
            </a:r>
            <a:endParaRPr lang="en-US" dirty="0"/>
          </a:p>
          <a:p>
            <a:pPr marL="0" indent="0">
              <a:buNone/>
            </a:pPr>
            <a:endParaRPr lang="en-PK" dirty="0"/>
          </a:p>
        </p:txBody>
      </p:sp>
    </p:spTree>
    <p:extLst>
      <p:ext uri="{BB962C8B-B14F-4D97-AF65-F5344CB8AC3E}">
        <p14:creationId xmlns:p14="http://schemas.microsoft.com/office/powerpoint/2010/main" val="49902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AF0D-AAB6-F90A-5AB5-F6CCAC5BB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F62B0-34BA-00E1-F58C-9D196E95D517}"/>
              </a:ext>
            </a:extLst>
          </p:cNvPr>
          <p:cNvSpPr>
            <a:spLocks noGrp="1"/>
          </p:cNvSpPr>
          <p:nvPr>
            <p:ph type="title"/>
          </p:nvPr>
        </p:nvSpPr>
        <p:spPr/>
        <p:txBody>
          <a:bodyPr/>
          <a:lstStyle/>
          <a:p>
            <a:r>
              <a:rPr lang="en-US" dirty="0"/>
              <a:t>Intermediate Level Questions</a:t>
            </a:r>
            <a:endParaRPr lang="en-PK" dirty="0"/>
          </a:p>
        </p:txBody>
      </p:sp>
      <p:sp>
        <p:nvSpPr>
          <p:cNvPr id="4" name="Content Placeholder 3">
            <a:extLst>
              <a:ext uri="{FF2B5EF4-FFF2-40B4-BE49-F238E27FC236}">
                <a16:creationId xmlns:a16="http://schemas.microsoft.com/office/drawing/2014/main" id="{F7E61B98-B166-75E1-FEA5-621C7D59523C}"/>
              </a:ext>
            </a:extLst>
          </p:cNvPr>
          <p:cNvSpPr>
            <a:spLocks noGrp="1"/>
          </p:cNvSpPr>
          <p:nvPr>
            <p:ph idx="1"/>
          </p:nvPr>
        </p:nvSpPr>
        <p:spPr>
          <a:xfrm>
            <a:off x="699659" y="1511747"/>
            <a:ext cx="10774585" cy="4843333"/>
          </a:xfrm>
        </p:spPr>
        <p:txBody>
          <a:bodyPr>
            <a:normAutofit/>
          </a:bodyPr>
          <a:lstStyle/>
          <a:p>
            <a:pPr marL="0" indent="0">
              <a:buNone/>
            </a:pPr>
            <a:r>
              <a:rPr lang="en-PK" b="1" dirty="0"/>
              <a:t>Q.</a:t>
            </a:r>
            <a:r>
              <a:rPr lang="en-PK" dirty="0"/>
              <a:t> Write a C++ function to insert an element at a particular index in an array</a:t>
            </a:r>
            <a:endParaRPr lang="en-US" dirty="0"/>
          </a:p>
          <a:p>
            <a:pPr marL="0" indent="0">
              <a:buNone/>
            </a:pPr>
            <a:r>
              <a:rPr lang="en-PK" b="1" dirty="0"/>
              <a:t>Q</a:t>
            </a:r>
            <a:r>
              <a:rPr lang="en-US" b="1" dirty="0"/>
              <a:t>.</a:t>
            </a:r>
            <a:r>
              <a:rPr lang="en-PK" dirty="0"/>
              <a:t> Write a C++ function to find the largest and smallest elements of an array</a:t>
            </a:r>
            <a:endParaRPr lang="en-US" dirty="0"/>
          </a:p>
          <a:p>
            <a:pPr marL="0" indent="0">
              <a:buNone/>
            </a:pPr>
            <a:r>
              <a:rPr lang="en-PK" b="1" dirty="0"/>
              <a:t>Q.</a:t>
            </a:r>
            <a:r>
              <a:rPr lang="en-PK" dirty="0"/>
              <a:t> Write a C++ program to count the number of occurrences of a given value in an array</a:t>
            </a:r>
            <a:endParaRPr lang="en-US" dirty="0"/>
          </a:p>
          <a:p>
            <a:pPr marL="0" indent="0">
              <a:buNone/>
            </a:pPr>
            <a:r>
              <a:rPr lang="en-PK" b="1" dirty="0"/>
              <a:t>Q.</a:t>
            </a:r>
            <a:r>
              <a:rPr lang="en-PK" dirty="0"/>
              <a:t> Write a C++ program to count the number of nodes in a singly linked list</a:t>
            </a:r>
            <a:endParaRPr lang="en-US" dirty="0"/>
          </a:p>
          <a:p>
            <a:pPr marL="0" indent="0">
              <a:buNone/>
            </a:pPr>
            <a:r>
              <a:rPr lang="en-PK" b="1" dirty="0"/>
              <a:t>Q.</a:t>
            </a:r>
            <a:r>
              <a:rPr lang="en-PK" dirty="0"/>
              <a:t> Write a C++ function to delete the last node of a circular linked list.</a:t>
            </a:r>
            <a:endParaRPr lang="en-US" dirty="0"/>
          </a:p>
          <a:p>
            <a:pPr marL="0" indent="0">
              <a:buNone/>
            </a:pPr>
            <a:r>
              <a:rPr lang="en-PK" b="1" dirty="0"/>
              <a:t>Q.</a:t>
            </a:r>
            <a:r>
              <a:rPr lang="en-PK" dirty="0"/>
              <a:t> Write a C++ function to traverse a doubly linked list in the backward direction </a:t>
            </a:r>
            <a:r>
              <a:rPr lang="en-PK" b="1" dirty="0"/>
              <a:t>without using a tail pointer</a:t>
            </a:r>
            <a:r>
              <a:rPr lang="en-PK" dirty="0"/>
              <a:t>.</a:t>
            </a:r>
          </a:p>
        </p:txBody>
      </p:sp>
    </p:spTree>
    <p:extLst>
      <p:ext uri="{BB962C8B-B14F-4D97-AF65-F5344CB8AC3E}">
        <p14:creationId xmlns:p14="http://schemas.microsoft.com/office/powerpoint/2010/main" val="4199197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E646C-BFC7-29A5-FA3B-EDFC0A00F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FA5CE-0B5B-4048-ACD0-F3672657D6FF}"/>
              </a:ext>
            </a:extLst>
          </p:cNvPr>
          <p:cNvSpPr>
            <a:spLocks noGrp="1"/>
          </p:cNvSpPr>
          <p:nvPr>
            <p:ph type="title"/>
          </p:nvPr>
        </p:nvSpPr>
        <p:spPr/>
        <p:txBody>
          <a:bodyPr/>
          <a:lstStyle/>
          <a:p>
            <a:r>
              <a:rPr lang="en-US" dirty="0"/>
              <a:t>Advanced Level Questions</a:t>
            </a:r>
            <a:endParaRPr lang="en-PK" dirty="0"/>
          </a:p>
        </p:txBody>
      </p:sp>
      <p:sp>
        <p:nvSpPr>
          <p:cNvPr id="4" name="Content Placeholder 3">
            <a:extLst>
              <a:ext uri="{FF2B5EF4-FFF2-40B4-BE49-F238E27FC236}">
                <a16:creationId xmlns:a16="http://schemas.microsoft.com/office/drawing/2014/main" id="{B7DC326D-8E42-DC6A-D1BB-CFA6FEB0C5B5}"/>
              </a:ext>
            </a:extLst>
          </p:cNvPr>
          <p:cNvSpPr>
            <a:spLocks noGrp="1"/>
          </p:cNvSpPr>
          <p:nvPr>
            <p:ph idx="1"/>
          </p:nvPr>
        </p:nvSpPr>
        <p:spPr>
          <a:xfrm>
            <a:off x="699659" y="1511747"/>
            <a:ext cx="10774585" cy="4843333"/>
          </a:xfrm>
        </p:spPr>
        <p:txBody>
          <a:bodyPr>
            <a:normAutofit/>
          </a:bodyPr>
          <a:lstStyle/>
          <a:p>
            <a:pPr marL="0" indent="0">
              <a:buNone/>
            </a:pPr>
            <a:r>
              <a:rPr lang="en-PK" b="1" dirty="0"/>
              <a:t>Q.</a:t>
            </a:r>
            <a:r>
              <a:rPr lang="en-PK" dirty="0"/>
              <a:t> Consider:</a:t>
            </a:r>
            <a:r>
              <a:rPr lang="en-US" dirty="0"/>
              <a:t>		10 → 20 → 30 → 40 → NULL</a:t>
            </a:r>
          </a:p>
          <a:p>
            <a:pPr marL="0" indent="0">
              <a:buNone/>
            </a:pPr>
            <a:r>
              <a:rPr lang="en-PK" dirty="0"/>
              <a:t>Write the exact pointer changes required to delete node 30</a:t>
            </a:r>
            <a:endParaRPr lang="en-US" dirty="0"/>
          </a:p>
          <a:p>
            <a:pPr marL="0" indent="0">
              <a:buNone/>
            </a:pPr>
            <a:r>
              <a:rPr lang="en-PK" b="1" dirty="0"/>
              <a:t>Q.</a:t>
            </a:r>
            <a:r>
              <a:rPr lang="en-PK" dirty="0"/>
              <a:t> A student implements a singly linked list and claims that insertion at the end is always O(1). Is the claim correct if the list contains only a head pointer? Justify your answer</a:t>
            </a:r>
            <a:endParaRPr lang="en-US" dirty="0"/>
          </a:p>
          <a:p>
            <a:pPr marL="0" indent="0">
              <a:buNone/>
            </a:pPr>
            <a:r>
              <a:rPr lang="en-PK" b="1" dirty="0"/>
              <a:t>Q.</a:t>
            </a:r>
            <a:r>
              <a:rPr lang="en-PK" dirty="0"/>
              <a:t> Consider the following doubly linked list:</a:t>
            </a:r>
            <a:endParaRPr lang="en-US" dirty="0"/>
          </a:p>
          <a:p>
            <a:pPr marL="0" indent="0">
              <a:buNone/>
            </a:pPr>
            <a:r>
              <a:rPr lang="en-US" dirty="0"/>
              <a:t>	NULL ← 10 ⇄ 20 ⇄ 30 ⇄ 40 → NULL</a:t>
            </a:r>
          </a:p>
          <a:p>
            <a:pPr marL="0" indent="0">
              <a:buNone/>
            </a:pPr>
            <a:r>
              <a:rPr lang="en-PK" dirty="0"/>
              <a:t>Write all pointer changes required to insert 25 between 20 and 30</a:t>
            </a:r>
          </a:p>
        </p:txBody>
      </p:sp>
    </p:spTree>
    <p:extLst>
      <p:ext uri="{BB962C8B-B14F-4D97-AF65-F5344CB8AC3E}">
        <p14:creationId xmlns:p14="http://schemas.microsoft.com/office/powerpoint/2010/main" val="3823359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5FB79-34E3-CB9D-51C6-5F278860E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731FC-46EA-2412-7C6A-FA0C4BF694CD}"/>
              </a:ext>
            </a:extLst>
          </p:cNvPr>
          <p:cNvSpPr>
            <a:spLocks noGrp="1"/>
          </p:cNvSpPr>
          <p:nvPr>
            <p:ph type="title"/>
          </p:nvPr>
        </p:nvSpPr>
        <p:spPr/>
        <p:txBody>
          <a:bodyPr/>
          <a:lstStyle/>
          <a:p>
            <a:r>
              <a:rPr lang="en-US" dirty="0"/>
              <a:t>Advanced Level Questions</a:t>
            </a:r>
            <a:endParaRPr lang="en-PK" dirty="0"/>
          </a:p>
        </p:txBody>
      </p:sp>
      <p:sp>
        <p:nvSpPr>
          <p:cNvPr id="4" name="Content Placeholder 3">
            <a:extLst>
              <a:ext uri="{FF2B5EF4-FFF2-40B4-BE49-F238E27FC236}">
                <a16:creationId xmlns:a16="http://schemas.microsoft.com/office/drawing/2014/main" id="{A585D809-508C-B146-8391-DF17E46D4783}"/>
              </a:ext>
            </a:extLst>
          </p:cNvPr>
          <p:cNvSpPr>
            <a:spLocks noGrp="1"/>
          </p:cNvSpPr>
          <p:nvPr>
            <p:ph idx="1"/>
          </p:nvPr>
        </p:nvSpPr>
        <p:spPr>
          <a:xfrm>
            <a:off x="699659" y="1511747"/>
            <a:ext cx="10774585" cy="4843333"/>
          </a:xfrm>
        </p:spPr>
        <p:txBody>
          <a:bodyPr>
            <a:normAutofit/>
          </a:bodyPr>
          <a:lstStyle/>
          <a:p>
            <a:pPr marL="0" indent="0">
              <a:buNone/>
            </a:pPr>
            <a:r>
              <a:rPr lang="en-PK" b="1" dirty="0"/>
              <a:t>Q.</a:t>
            </a:r>
            <a:r>
              <a:rPr lang="en-PK" dirty="0"/>
              <a:t> A programmer uses a doubly linked list but forgets to update the </a:t>
            </a:r>
            <a:r>
              <a:rPr lang="en-PK" dirty="0" err="1"/>
              <a:t>prev</a:t>
            </a:r>
            <a:r>
              <a:rPr lang="en-PK" dirty="0"/>
              <a:t> pointer during insertion. What problems can occur during backward traversal?</a:t>
            </a:r>
            <a:endParaRPr lang="en-US" dirty="0"/>
          </a:p>
          <a:p>
            <a:pPr marL="0" indent="0">
              <a:buNone/>
            </a:pPr>
            <a:r>
              <a:rPr lang="en-PK" b="1" dirty="0"/>
              <a:t>Q.</a:t>
            </a:r>
            <a:r>
              <a:rPr lang="en-PK" dirty="0"/>
              <a:t> Write a C++ function that reverses a singly linked list</a:t>
            </a:r>
            <a:endParaRPr lang="en-US" dirty="0"/>
          </a:p>
          <a:p>
            <a:pPr marL="0" indent="0">
              <a:buNone/>
            </a:pPr>
            <a:r>
              <a:rPr lang="en-PK" b="1" dirty="0"/>
              <a:t>Q.</a:t>
            </a:r>
            <a:r>
              <a:rPr lang="en-PK" dirty="0"/>
              <a:t> Write a C++ function to determine whether a singly linked list contains duplicate values</a:t>
            </a:r>
            <a:endParaRPr lang="en-US" dirty="0"/>
          </a:p>
          <a:p>
            <a:pPr marL="0" indent="0">
              <a:buNone/>
            </a:pPr>
            <a:r>
              <a:rPr lang="en-PK" b="1" dirty="0"/>
              <a:t>Q.</a:t>
            </a:r>
            <a:r>
              <a:rPr lang="en-PK" dirty="0"/>
              <a:t> Write a C++ function to find the middle node of a singly linked list</a:t>
            </a:r>
            <a:endParaRPr lang="en-US" dirty="0"/>
          </a:p>
          <a:p>
            <a:pPr marL="0" indent="0">
              <a:buNone/>
            </a:pPr>
            <a:r>
              <a:rPr lang="en-PK" b="1" dirty="0"/>
              <a:t>Q.</a:t>
            </a:r>
            <a:r>
              <a:rPr lang="en-PK" dirty="0"/>
              <a:t> Write a C++ function to merge two sorted singly linked lists into one sorted linked list</a:t>
            </a:r>
          </a:p>
        </p:txBody>
      </p:sp>
    </p:spTree>
    <p:extLst>
      <p:ext uri="{BB962C8B-B14F-4D97-AF65-F5344CB8AC3E}">
        <p14:creationId xmlns:p14="http://schemas.microsoft.com/office/powerpoint/2010/main" val="194973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A0364-ECA5-FF10-649B-F1BA3DEFB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02FF-CDAF-1011-9F7C-9C8A5D0FBDD0}"/>
              </a:ext>
            </a:extLst>
          </p:cNvPr>
          <p:cNvSpPr>
            <a:spLocks noGrp="1"/>
          </p:cNvSpPr>
          <p:nvPr>
            <p:ph type="title"/>
          </p:nvPr>
        </p:nvSpPr>
        <p:spPr/>
        <p:txBody>
          <a:bodyPr/>
          <a:lstStyle/>
          <a:p>
            <a:r>
              <a:rPr lang="en-US" dirty="0"/>
              <a:t>Advanced Level Questions</a:t>
            </a:r>
            <a:endParaRPr lang="en-PK" dirty="0"/>
          </a:p>
        </p:txBody>
      </p:sp>
      <p:sp>
        <p:nvSpPr>
          <p:cNvPr id="4" name="Content Placeholder 3">
            <a:extLst>
              <a:ext uri="{FF2B5EF4-FFF2-40B4-BE49-F238E27FC236}">
                <a16:creationId xmlns:a16="http://schemas.microsoft.com/office/drawing/2014/main" id="{C98D14DD-EF7C-C7BE-2065-80EFBEBB0382}"/>
              </a:ext>
            </a:extLst>
          </p:cNvPr>
          <p:cNvSpPr>
            <a:spLocks noGrp="1"/>
          </p:cNvSpPr>
          <p:nvPr>
            <p:ph idx="1"/>
          </p:nvPr>
        </p:nvSpPr>
        <p:spPr>
          <a:xfrm>
            <a:off x="699659" y="1511747"/>
            <a:ext cx="10774585" cy="4843333"/>
          </a:xfrm>
        </p:spPr>
        <p:txBody>
          <a:bodyPr>
            <a:normAutofit/>
          </a:bodyPr>
          <a:lstStyle/>
          <a:p>
            <a:pPr marL="0" indent="0">
              <a:buNone/>
            </a:pPr>
            <a:r>
              <a:rPr lang="en-PK" b="1" dirty="0"/>
              <a:t>Q.</a:t>
            </a:r>
            <a:r>
              <a:rPr lang="en-PK" dirty="0"/>
              <a:t> Write a C++ </a:t>
            </a:r>
            <a:r>
              <a:rPr lang="en-US" dirty="0"/>
              <a:t>code</a:t>
            </a:r>
            <a:r>
              <a:rPr lang="en-PK" dirty="0"/>
              <a:t> to remove duplicate elements from a singly linked list</a:t>
            </a:r>
            <a:endParaRPr lang="en-US" dirty="0"/>
          </a:p>
          <a:p>
            <a:pPr marL="0" indent="0">
              <a:buNone/>
            </a:pPr>
            <a:r>
              <a:rPr lang="en-PK" b="1" dirty="0"/>
              <a:t>Q.</a:t>
            </a:r>
            <a:r>
              <a:rPr lang="en-PK" dirty="0"/>
              <a:t> Write a C++ program that converts an array into a singly linked </a:t>
            </a:r>
            <a:r>
              <a:rPr lang="en-PK" dirty="0" err="1"/>
              <a:t>lis</a:t>
            </a:r>
            <a:r>
              <a:rPr lang="en-US" dirty="0"/>
              <a:t>t</a:t>
            </a:r>
          </a:p>
          <a:p>
            <a:pPr marL="0" indent="0">
              <a:buNone/>
            </a:pPr>
            <a:r>
              <a:rPr lang="en-PK" b="1" dirty="0"/>
              <a:t>Q.</a:t>
            </a:r>
            <a:r>
              <a:rPr lang="en-PK" dirty="0"/>
              <a:t> Write a C++ program that copies all elements of a singly linked list into an array</a:t>
            </a:r>
            <a:endParaRPr lang="en-US" dirty="0"/>
          </a:p>
          <a:p>
            <a:pPr marL="0" indent="0">
              <a:buNone/>
            </a:pPr>
            <a:r>
              <a:rPr lang="en-PK" b="1"/>
              <a:t>Q.</a:t>
            </a:r>
            <a:r>
              <a:rPr lang="en-PK"/>
              <a:t> </a:t>
            </a:r>
            <a:r>
              <a:rPr lang="en-PK" dirty="0"/>
              <a:t>A university wants to maintain a student record system where records are frequently inserted and deleted. Explain whether you would choose an array, singly linked list, circular linked list, or doubly linked list. Justify your choice based on the required operations</a:t>
            </a:r>
          </a:p>
        </p:txBody>
      </p:sp>
    </p:spTree>
    <p:extLst>
      <p:ext uri="{BB962C8B-B14F-4D97-AF65-F5344CB8AC3E}">
        <p14:creationId xmlns:p14="http://schemas.microsoft.com/office/powerpoint/2010/main" val="3440085441"/>
      </p:ext>
    </p:extLst>
  </p:cSld>
  <p:clrMapOvr>
    <a:masterClrMapping/>
  </p:clrMapOvr>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docProps/app.xml><?xml version="1.0" encoding="utf-8"?>
<Properties xmlns="http://schemas.openxmlformats.org/officeDocument/2006/extended-properties" xmlns:vt="http://schemas.openxmlformats.org/officeDocument/2006/docPropsVTypes">
  <Template>School Days</Template>
  <TotalTime>5125</TotalTime>
  <Words>827</Words>
  <Application>Microsoft Office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JasmineUPC</vt:lpstr>
      <vt:lpstr>Raleway</vt:lpstr>
      <vt:lpstr>Wingdings</vt:lpstr>
      <vt:lpstr>School Days</vt:lpstr>
      <vt:lpstr>Doubly Linked List</vt:lpstr>
      <vt:lpstr>Beginner Level Questions</vt:lpstr>
      <vt:lpstr>Beginner Level Questions</vt:lpstr>
      <vt:lpstr>Beginner Level Questions</vt:lpstr>
      <vt:lpstr>Intermediate Level Questions</vt:lpstr>
      <vt:lpstr>Intermediate Level Questions</vt:lpstr>
      <vt:lpstr>Intermediate Level Questions</vt:lpstr>
      <vt:lpstr>Advanced Level Questions</vt:lpstr>
      <vt:lpstr>Advanced Level Questions</vt:lpstr>
      <vt:lpstr>Advanced Level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Ehtisham Rashid</dc:creator>
  <cp:lastModifiedBy>Ehtisham Rashid</cp:lastModifiedBy>
  <cp:revision>224</cp:revision>
  <dcterms:created xsi:type="dcterms:W3CDTF">2026-07-31T17:50:49Z</dcterms:created>
  <dcterms:modified xsi:type="dcterms:W3CDTF">2026-08-14T09:35:43Z</dcterms:modified>
</cp:coreProperties>
</file>